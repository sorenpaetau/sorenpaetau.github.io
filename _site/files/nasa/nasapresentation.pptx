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Nunito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41EF49-5A5F-4C5A-9049-F3638555F32F}">
  <a:tblStyle styleId="{4C41EF49-5A5F-4C5A-9049-F3638555F3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B6974AE-E06A-4B35-8988-77F4A2CC77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Nunito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schemas.openxmlformats.org/officeDocument/2006/relationships/font" Target="fonts/Nunito-italic.fntdata"/><Relationship Id="rId16" Type="http://schemas.openxmlformats.org/officeDocument/2006/relationships/slide" Target="slides/slide10.xml"/><Relationship Id="rId38" Type="http://schemas.openxmlformats.org/officeDocument/2006/relationships/font" Target="fonts/Nuni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2de8a70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2de8a70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e321b6db1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e321b6db1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2de8a70ab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2de8a70ab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2de8a70a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72de8a70a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2de8a70ab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2de8a70ab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2de8a70ab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72de8a70a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2de8a70ab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2de8a70ab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2de8a70a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72de8a70a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2de8a70a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2de8a70a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2de8a70a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72de8a70a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2de8a70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2de8a70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 layers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Relu, normalization, dropout, fully connected, softmax, cross-entropy loss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2de8a70a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2de8a70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32cee3c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32cee3c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32cee3c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e32cee3c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190 to 200 Hz was worse, but still 70% accurate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2de8a70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2de8a70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32cee3ca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32cee3ca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32cee3ca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e32cee3ca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3259532f9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e3259532f9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72de8a70a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2de8a70a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2de8a70a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2de8a70a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2de8a70a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72de8a70a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NASA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50"/>
            <a:ext cx="8123100" cy="1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Boiling Detection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Alexander Arrieta, Nathan Hill, Soren Paetau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NASA Advisors: Michael Khasin, Matteo Corbetta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 Poly Faculty: Hunter Glanz, Jonathan Ventura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399938"/>
            <a:ext cx="8520600" cy="27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1"/>
                </a:solidFill>
              </a:rPr>
              <a:t>Sinha et al. working with hydrophone data on boiling pots</a:t>
            </a:r>
            <a:endParaRPr sz="2300"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6856" l="0" r="0" t="7753"/>
          <a:stretch/>
        </p:blipFill>
        <p:spPr>
          <a:xfrm>
            <a:off x="0" y="2077625"/>
            <a:ext cx="9144000" cy="17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5646975" y="3676475"/>
            <a:ext cx="317400" cy="14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0950" y="3815000"/>
            <a:ext cx="118875" cy="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8290" t="0"/>
          <a:stretch/>
        </p:blipFill>
        <p:spPr>
          <a:xfrm>
            <a:off x="5802875" y="3815000"/>
            <a:ext cx="140050" cy="5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title"/>
          </p:nvPr>
        </p:nvSpPr>
        <p:spPr>
          <a:xfrm>
            <a:off x="150275" y="3815000"/>
            <a:ext cx="603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“Deep learning the sound of boiling for advance prediction of boiling crisis” w/ Dataset – Sinha et al., Cell Reports Physical Science, 2021</a:t>
            </a:r>
            <a:endParaRPr i="1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Audio Data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audio data, 160 - 200 Hz range most important for classifying boiling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Are there similar characteristics from accelerometers?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51198"/>
          <a:stretch/>
        </p:blipFill>
        <p:spPr>
          <a:xfrm>
            <a:off x="957325" y="2173126"/>
            <a:ext cx="7229351" cy="26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1896097" y="3888876"/>
            <a:ext cx="5032500" cy="1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720021" y="1958050"/>
            <a:ext cx="37041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Verdana"/>
                <a:ea typeface="Verdana"/>
                <a:cs typeface="Verdana"/>
                <a:sym typeface="Verdana"/>
              </a:rPr>
              <a:t>Nucleate Boiling - Background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cxnSp>
        <p:nvCxnSpPr>
          <p:cNvPr id="86" name="Google Shape;86;p16"/>
          <p:cNvCxnSpPr>
            <a:stCxn id="87" idx="2"/>
            <a:endCxn id="88" idx="0"/>
          </p:cNvCxnSpPr>
          <p:nvPr/>
        </p:nvCxnSpPr>
        <p:spPr>
          <a:xfrm flipH="1" rot="-5400000">
            <a:off x="5092650" y="1692500"/>
            <a:ext cx="1211100" cy="22524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p16"/>
          <p:cNvCxnSpPr>
            <a:stCxn id="90" idx="0"/>
            <a:endCxn id="87" idx="2"/>
          </p:cNvCxnSpPr>
          <p:nvPr/>
        </p:nvCxnSpPr>
        <p:spPr>
          <a:xfrm rot="-5400000">
            <a:off x="2840200" y="1692610"/>
            <a:ext cx="1211100" cy="2252400"/>
          </a:xfrm>
          <a:prstGeom prst="bentConnector3">
            <a:avLst>
              <a:gd fmla="val 50005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7" name="Google Shape;87;p16"/>
          <p:cNvSpPr txBox="1"/>
          <p:nvPr/>
        </p:nvSpPr>
        <p:spPr>
          <a:xfrm>
            <a:off x="2593500" y="1256450"/>
            <a:ext cx="3957000" cy="9567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Determine if accelerometers are viable for real-time boiling detection on a rocket</a:t>
            </a:r>
            <a:endParaRPr b="1" sz="2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292350" y="3424360"/>
            <a:ext cx="2054400" cy="8196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Can accelerometers detect boiling?</a:t>
            </a:r>
            <a:endParaRPr b="1" sz="16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797250" y="3424360"/>
            <a:ext cx="2054400" cy="8196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Is the model generalizable?</a:t>
            </a:r>
            <a:endParaRPr b="1" sz="16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544812" y="3424360"/>
            <a:ext cx="2054400" cy="8196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Is the model fast enough to predict in real time?</a:t>
            </a:r>
            <a:endParaRPr b="1" sz="16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" name="Google Shape;92;p16"/>
          <p:cNvCxnSpPr>
            <a:stCxn id="91" idx="0"/>
            <a:endCxn id="87" idx="2"/>
          </p:cNvCxnSpPr>
          <p:nvPr/>
        </p:nvCxnSpPr>
        <p:spPr>
          <a:xfrm rot="10800000">
            <a:off x="4572012" y="2213260"/>
            <a:ext cx="0" cy="1211100"/>
          </a:xfrm>
          <a:prstGeom prst="straightConnector1">
            <a:avLst/>
          </a:prstGeom>
          <a:noFill/>
          <a:ln cap="flat" cmpd="sng" w="19050">
            <a:solidFill>
              <a:srgbClr val="C2C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Data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11700" y="1097175"/>
            <a:ext cx="8247000" cy="3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Composed of background noise, stationary boiling, and calm to 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boiling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data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99" name="Google Shape;99;p17"/>
          <p:cNvGraphicFramePr/>
          <p:nvPr/>
        </p:nvGraphicFramePr>
        <p:xfrm>
          <a:off x="928388" y="166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{4C41EF49-5A5F-4C5A-9049-F3638555F32F}</a:tableStyleId>
              </a:tblPr>
              <a:tblGrid>
                <a:gridCol w="2429075"/>
                <a:gridCol w="2429075"/>
                <a:gridCol w="2429075"/>
              </a:tblGrid>
              <a:tr h="64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Data Type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Files 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Length in Seconds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64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Background Noise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48.7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4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Stationary Boiling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25.9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4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Calm to Boiling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35.4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4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Total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12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110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82875" marB="91425" marR="91425" marL="91425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311700" y="1914655"/>
            <a:ext cx="2745300" cy="1384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Crop Data to nearest </a:t>
            </a:r>
            <a:endParaRPr b="1"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0.1 second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3199350" y="1879355"/>
            <a:ext cx="2745300" cy="1384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Label Ground Truth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087000" y="1879355"/>
            <a:ext cx="2745300" cy="1384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Combine all Files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3199350" y="196775"/>
            <a:ext cx="27453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Data Cleaning</a:t>
            </a:r>
            <a:endParaRPr b="1" sz="2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3403650" y="1753325"/>
            <a:ext cx="2336700" cy="1867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Full Raw Data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6298025" y="939350"/>
            <a:ext cx="23367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Training Data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6298025" y="2462663"/>
            <a:ext cx="2336700" cy="448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Validation Data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6298025" y="3902725"/>
            <a:ext cx="2336700" cy="434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Test Data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509275" y="939338"/>
            <a:ext cx="23367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Accelerometer 1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509275" y="2249213"/>
            <a:ext cx="23367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Accelerometer 2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09275" y="3682063"/>
            <a:ext cx="23367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Ground Truth Label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19" name="Google Shape;119;p19"/>
          <p:cNvCxnSpPr>
            <a:stCxn id="116" idx="3"/>
            <a:endCxn id="112" idx="1"/>
          </p:cNvCxnSpPr>
          <p:nvPr/>
        </p:nvCxnSpPr>
        <p:spPr>
          <a:xfrm>
            <a:off x="2845975" y="1377038"/>
            <a:ext cx="557700" cy="130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9"/>
          <p:cNvCxnSpPr>
            <a:stCxn id="117" idx="3"/>
            <a:endCxn id="112" idx="1"/>
          </p:cNvCxnSpPr>
          <p:nvPr/>
        </p:nvCxnSpPr>
        <p:spPr>
          <a:xfrm>
            <a:off x="2845975" y="2686913"/>
            <a:ext cx="55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9"/>
          <p:cNvCxnSpPr>
            <a:stCxn id="118" idx="3"/>
            <a:endCxn id="112" idx="1"/>
          </p:cNvCxnSpPr>
          <p:nvPr/>
        </p:nvCxnSpPr>
        <p:spPr>
          <a:xfrm flipH="1" rot="10800000">
            <a:off x="2845975" y="2686963"/>
            <a:ext cx="557700" cy="14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>
            <a:stCxn id="112" idx="3"/>
            <a:endCxn id="113" idx="1"/>
          </p:cNvCxnSpPr>
          <p:nvPr/>
        </p:nvCxnSpPr>
        <p:spPr>
          <a:xfrm flipH="1" rot="10800000">
            <a:off x="5740350" y="1377125"/>
            <a:ext cx="557700" cy="130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9"/>
          <p:cNvCxnSpPr>
            <a:stCxn id="112" idx="3"/>
            <a:endCxn id="114" idx="1"/>
          </p:cNvCxnSpPr>
          <p:nvPr/>
        </p:nvCxnSpPr>
        <p:spPr>
          <a:xfrm>
            <a:off x="5740350" y="2686925"/>
            <a:ext cx="55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9"/>
          <p:cNvCxnSpPr>
            <a:stCxn id="112" idx="3"/>
            <a:endCxn id="115" idx="1"/>
          </p:cNvCxnSpPr>
          <p:nvPr/>
        </p:nvCxnSpPr>
        <p:spPr>
          <a:xfrm>
            <a:off x="5740350" y="2686925"/>
            <a:ext cx="557700" cy="14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9"/>
          <p:cNvSpPr txBox="1"/>
          <p:nvPr/>
        </p:nvSpPr>
        <p:spPr>
          <a:xfrm>
            <a:off x="7140875" y="563375"/>
            <a:ext cx="651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60%</a:t>
            </a:r>
            <a:endParaRPr b="1"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7140875" y="2113425"/>
            <a:ext cx="651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r>
              <a:rPr b="1"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%</a:t>
            </a:r>
            <a:endParaRPr b="1"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7140875" y="3559100"/>
            <a:ext cx="651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n" sz="1800">
                <a:solidFill>
                  <a:schemeClr val="lt2"/>
                </a:solidFill>
                <a:latin typeface="Proxima Nova"/>
                <a:ea typeface="Proxima Nova"/>
                <a:cs typeface="Proxima Nova"/>
                <a:sym typeface="Proxima Nova"/>
              </a:rPr>
              <a:t>0%</a:t>
            </a:r>
            <a:endParaRPr b="1" sz="1800">
              <a:solidFill>
                <a:schemeClr val="l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3403650" y="196763"/>
            <a:ext cx="23367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Data Workflow</a:t>
            </a:r>
            <a:endParaRPr b="1" sz="2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0" y="3776326"/>
            <a:ext cx="23055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Train/Test/Validation Sets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2305548" y="2900917"/>
            <a:ext cx="23055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Fast Fourier Transform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2711550" y="196775"/>
            <a:ext cx="37209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Transformations and Normalizations</a:t>
            </a:r>
            <a:endParaRPr b="1" sz="2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611096" y="2025521"/>
            <a:ext cx="23055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Min-Max Normalization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838524" y="1150125"/>
            <a:ext cx="2305500" cy="875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Log Transform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8" name="Google Shape;138;p20"/>
          <p:cNvCxnSpPr>
            <a:stCxn id="133" idx="0"/>
            <a:endCxn id="134" idx="1"/>
          </p:cNvCxnSpPr>
          <p:nvPr/>
        </p:nvCxnSpPr>
        <p:spPr>
          <a:xfrm rot="-5400000">
            <a:off x="1510350" y="2981026"/>
            <a:ext cx="437700" cy="1152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20"/>
          <p:cNvCxnSpPr>
            <a:stCxn id="134" idx="0"/>
            <a:endCxn id="136" idx="1"/>
          </p:cNvCxnSpPr>
          <p:nvPr/>
        </p:nvCxnSpPr>
        <p:spPr>
          <a:xfrm rot="-5400000">
            <a:off x="3815898" y="2105617"/>
            <a:ext cx="437700" cy="1152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20"/>
          <p:cNvCxnSpPr>
            <a:stCxn id="136" idx="0"/>
            <a:endCxn id="137" idx="1"/>
          </p:cNvCxnSpPr>
          <p:nvPr/>
        </p:nvCxnSpPr>
        <p:spPr>
          <a:xfrm rot="-5400000">
            <a:off x="6082296" y="1269371"/>
            <a:ext cx="437700" cy="10746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9021" r="8510" t="6942"/>
          <a:stretch/>
        </p:blipFill>
        <p:spPr>
          <a:xfrm>
            <a:off x="2875025" y="254650"/>
            <a:ext cx="5216975" cy="23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 rotWithShape="1">
          <a:blip r:embed="rId4">
            <a:alphaModFix/>
          </a:blip>
          <a:srcRect b="4032" l="9216" r="8417" t="6943"/>
          <a:stretch/>
        </p:blipFill>
        <p:spPr>
          <a:xfrm>
            <a:off x="2886350" y="2750200"/>
            <a:ext cx="5194325" cy="22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248375" y="1010100"/>
            <a:ext cx="2510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Raw Data Before Normalization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248375" y="3354475"/>
            <a:ext cx="2510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Data After Min-Max Normalization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25" y="271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39285"/>
              <a:buFont typeface="Arial"/>
              <a:buNone/>
            </a:pPr>
            <a:r>
              <a:rPr lang="en"/>
              <a:t>Example 0.1 Second Interval </a:t>
            </a:r>
            <a:endParaRPr/>
          </a:p>
        </p:txBody>
      </p:sp>
      <p:sp>
        <p:nvSpPr>
          <p:cNvPr id="154" name="Google Shape;154;p22"/>
          <p:cNvSpPr txBox="1"/>
          <p:nvPr>
            <p:ph type="title"/>
          </p:nvPr>
        </p:nvSpPr>
        <p:spPr>
          <a:xfrm>
            <a:off x="1889713" y="786100"/>
            <a:ext cx="5364600" cy="2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9009"/>
              <a:buNone/>
            </a:pPr>
            <a:r>
              <a:rPr lang="en" sz="2020"/>
              <a:t>Background Noise</a:t>
            </a:r>
            <a:endParaRPr sz="2020"/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7373"/>
          <a:stretch/>
        </p:blipFill>
        <p:spPr>
          <a:xfrm>
            <a:off x="1030675" y="1227400"/>
            <a:ext cx="7082650" cy="379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25" y="271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0.1 Second Interval </a:t>
            </a:r>
            <a:endParaRPr/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1889713" y="786100"/>
            <a:ext cx="5364600" cy="2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49009"/>
              <a:buNone/>
            </a:pPr>
            <a:r>
              <a:rPr lang="en" sz="2020"/>
              <a:t>Boiling</a:t>
            </a:r>
            <a:endParaRPr sz="2020"/>
          </a:p>
        </p:txBody>
      </p:sp>
      <p:pic>
        <p:nvPicPr>
          <p:cNvPr id="162" name="Google Shape;162;p23"/>
          <p:cNvPicPr preferRelativeResize="0"/>
          <p:nvPr/>
        </p:nvPicPr>
        <p:blipFill rotWithShape="1">
          <a:blip r:embed="rId3">
            <a:alphaModFix/>
          </a:blip>
          <a:srcRect b="0" l="0" r="0" t="7373"/>
          <a:stretch/>
        </p:blipFill>
        <p:spPr>
          <a:xfrm>
            <a:off x="1160362" y="1220150"/>
            <a:ext cx="6823327" cy="379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/>
              <a:t>Model 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152475"/>
            <a:ext cx="623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Convolutional</a:t>
            </a:r>
            <a:r>
              <a:rPr lang="en"/>
              <a:t> Neural Network (CNN) for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Fast Training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3 minutes for 25 epochs with 120 iterations 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Fast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High Accuracy</a:t>
            </a:r>
            <a:endParaRPr/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3718900" y="274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{4C41EF49-5A5F-4C5A-9049-F3638555F32F}</a:tableStyleId>
              </a:tblPr>
              <a:tblGrid>
                <a:gridCol w="2556700"/>
                <a:gridCol w="2556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Observations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Time to Classify (seconds)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C2C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0.0020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0.0038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0.0094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0.0315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4"/>
          <p:cNvSpPr txBox="1"/>
          <p:nvPr/>
        </p:nvSpPr>
        <p:spPr>
          <a:xfrm>
            <a:off x="6275600" y="1567400"/>
            <a:ext cx="25566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Validation Accuracy: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A7291E"/>
                </a:solidFill>
                <a:latin typeface="Proxima Nova"/>
                <a:ea typeface="Proxima Nova"/>
                <a:cs typeface="Proxima Nova"/>
                <a:sym typeface="Proxima Nova"/>
              </a:rPr>
              <a:t>93.96%</a:t>
            </a:r>
            <a:endParaRPr b="1" sz="3000">
              <a:solidFill>
                <a:srgbClr val="A7291E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graphicFrame>
        <p:nvGraphicFramePr>
          <p:cNvPr id="176" name="Google Shape;176;p25"/>
          <p:cNvGraphicFramePr/>
          <p:nvPr/>
        </p:nvGraphicFramePr>
        <p:xfrm>
          <a:off x="311725" y="84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{8B6974AE-E06A-4B35-8988-77F4A2CC77B1}</a:tableStyleId>
              </a:tblPr>
              <a:tblGrid>
                <a:gridCol w="2092925"/>
                <a:gridCol w="2092925"/>
                <a:gridCol w="2092925"/>
                <a:gridCol w="2092925"/>
              </a:tblGrid>
              <a:tr h="108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Predicted Class</a:t>
                      </a:r>
                      <a:endParaRPr b="1" sz="16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8429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True Class</a:t>
                      </a:r>
                      <a:endParaRPr b="1" sz="16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BKG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</a:tr>
              <a:tr h="837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BKG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228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28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EA9999"/>
                    </a:solidFill>
                  </a:tcPr>
                </a:tc>
              </a:tr>
              <a:tr h="837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223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Evaluation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Similar to previous work, different Hz bands had different impacts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26"/>
          <p:cNvGraphicFramePr/>
          <p:nvPr/>
        </p:nvGraphicFramePr>
        <p:xfrm>
          <a:off x="230450" y="15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{8B6974AE-E06A-4B35-8988-77F4A2CC77B1}</a:tableStyleId>
              </a:tblPr>
              <a:tblGrid>
                <a:gridCol w="2092925"/>
                <a:gridCol w="2092925"/>
                <a:gridCol w="2092925"/>
                <a:gridCol w="2092925"/>
              </a:tblGrid>
              <a:tr h="10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Predicted Class</a:t>
                      </a:r>
                      <a:endParaRPr b="1" sz="16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8429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True Class</a:t>
                      </a:r>
                      <a:endParaRPr b="1" sz="16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BKG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</a:tr>
              <a:tr h="837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BKG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304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EA9999"/>
                    </a:solidFill>
                  </a:tcPr>
                </a:tc>
              </a:tr>
              <a:tr h="837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207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6"/>
          <p:cNvSpPr txBox="1"/>
          <p:nvPr/>
        </p:nvSpPr>
        <p:spPr>
          <a:xfrm>
            <a:off x="532075" y="1795800"/>
            <a:ext cx="3658200" cy="13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Confusion Matrix for altering the 150 to 155 Hz range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Evaluation</a:t>
            </a:r>
            <a:endParaRPr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Model worked effectively on several </a:t>
            </a:r>
            <a:r>
              <a:rPr lang="en">
                <a:solidFill>
                  <a:schemeClr val="accent1"/>
                </a:solidFill>
              </a:rPr>
              <a:t>different</a:t>
            </a:r>
            <a:r>
              <a:rPr lang="en">
                <a:solidFill>
                  <a:schemeClr val="accent1"/>
                </a:solidFill>
              </a:rPr>
              <a:t> 10 Hz bands</a:t>
            </a:r>
            <a:endParaRPr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1" name="Google Shape;191;p27"/>
          <p:cNvGraphicFramePr/>
          <p:nvPr/>
        </p:nvGraphicFramePr>
        <p:xfrm>
          <a:off x="230450" y="151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{8B6974AE-E06A-4B35-8988-77F4A2CC77B1}</a:tableStyleId>
              </a:tblPr>
              <a:tblGrid>
                <a:gridCol w="2092925"/>
                <a:gridCol w="2092925"/>
                <a:gridCol w="2092925"/>
                <a:gridCol w="2092925"/>
              </a:tblGrid>
              <a:tr h="100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Predicted Class</a:t>
                      </a:r>
                      <a:endParaRPr b="1" sz="16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8429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True Class</a:t>
                      </a:r>
                      <a:endParaRPr b="1" sz="16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BKG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</a:tr>
              <a:tr h="837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BKG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275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EA9999"/>
                    </a:solidFill>
                  </a:tcPr>
                </a:tc>
              </a:tr>
              <a:tr h="837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</a:t>
                      </a:r>
                      <a:endParaRPr b="1"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26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179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63500" marB="63500" marR="63500" marL="63500" anchor="ctr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27"/>
          <p:cNvSpPr txBox="1"/>
          <p:nvPr/>
        </p:nvSpPr>
        <p:spPr>
          <a:xfrm>
            <a:off x="532075" y="1795800"/>
            <a:ext cx="3658200" cy="13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Confusion Matrix for using only the 60 to 70 Hz range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Initial data collected in late February and early March is very </a:t>
            </a:r>
            <a:r>
              <a:rPr lang="en">
                <a:solidFill>
                  <a:schemeClr val="accent1"/>
                </a:solidFill>
              </a:rPr>
              <a:t>distinct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Raw and normalized data easily classifiable using basic thresholding techniques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Over 90% accuracy using simple splitting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Noise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Simulates potential real life </a:t>
            </a:r>
            <a:r>
              <a:rPr lang="en">
                <a:solidFill>
                  <a:schemeClr val="accent1"/>
                </a:solidFill>
              </a:rPr>
              <a:t>noise in data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194"/>
            <a:ext cx="9144000" cy="491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Immediately Generalizable to Unfamiliar Setups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11700" y="112558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trained on </a:t>
            </a:r>
            <a:r>
              <a:rPr lang="en"/>
              <a:t>background</a:t>
            </a:r>
            <a:r>
              <a:rPr lang="en"/>
              <a:t>, stationary, calm to boiling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 blindly to new sets of data with less clear boiling classifications</a:t>
            </a:r>
            <a:endParaRPr/>
          </a:p>
        </p:txBody>
      </p:sp>
      <p:graphicFrame>
        <p:nvGraphicFramePr>
          <p:cNvPr id="218" name="Google Shape;218;p31"/>
          <p:cNvGraphicFramePr/>
          <p:nvPr/>
        </p:nvGraphicFramePr>
        <p:xfrm>
          <a:off x="4572025" y="190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{4C41EF49-5A5F-4C5A-9049-F3638555F32F}</a:tableStyleId>
              </a:tblPr>
              <a:tblGrid>
                <a:gridCol w="2130150"/>
                <a:gridCol w="2130150"/>
              </a:tblGrid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 Classified as Boiling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Actual Classification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C2C2C2"/>
                    </a:solidFill>
                  </a:tcPr>
                </a:tc>
              </a:tr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0.00%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 Boiling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40.00%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Boiling at Hot Spot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36.78%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Boiling at Hot Spot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33.36%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Boiling at Hot Spot</a:t>
                      </a:r>
                      <a:endParaRPr>
                        <a:solidFill>
                          <a:schemeClr val="accen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9" name="Google Shape;219;p31"/>
          <p:cNvGraphicFramePr/>
          <p:nvPr/>
        </p:nvGraphicFramePr>
        <p:xfrm>
          <a:off x="239375" y="190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{4C41EF49-5A5F-4C5A-9049-F3638555F32F}</a:tableStyleId>
              </a:tblPr>
              <a:tblGrid>
                <a:gridCol w="2166325"/>
                <a:gridCol w="2166325"/>
              </a:tblGrid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 Classified as Boiling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Actual Classification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2C2C2"/>
                    </a:solidFill>
                  </a:tcPr>
                </a:tc>
              </a:tr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98.50</a:t>
                      </a: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 Boiling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</a:tr>
              <a:tr h="61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98.80</a:t>
                      </a: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Boiling at Hot Spot</a:t>
                      </a:r>
                      <a:endParaRPr>
                        <a:solidFill>
                          <a:schemeClr val="accen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Boiling?</a:t>
            </a:r>
            <a:endParaRPr/>
          </a:p>
        </p:txBody>
      </p:sp>
      <p:grpSp>
        <p:nvGrpSpPr>
          <p:cNvPr id="225" name="Google Shape;225;p32"/>
          <p:cNvGrpSpPr/>
          <p:nvPr/>
        </p:nvGrpSpPr>
        <p:grpSpPr>
          <a:xfrm>
            <a:off x="5632317" y="1594875"/>
            <a:ext cx="3305700" cy="3483050"/>
            <a:chOff x="5632317" y="1189775"/>
            <a:chExt cx="3305700" cy="3483050"/>
          </a:xfrm>
        </p:grpSpPr>
        <p:sp>
          <p:nvSpPr>
            <p:cNvPr id="226" name="Google Shape;226;p32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D837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Bubbles Freeing</a:t>
              </a:r>
              <a:endPara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27" name="Google Shape;227;p32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Bubbles detach from the hot spot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28" name="Google Shape;228;p32"/>
          <p:cNvGrpSpPr/>
          <p:nvPr/>
        </p:nvGrpSpPr>
        <p:grpSpPr>
          <a:xfrm>
            <a:off x="0" y="1595089"/>
            <a:ext cx="3546900" cy="3482836"/>
            <a:chOff x="0" y="1189989"/>
            <a:chExt cx="3546900" cy="3482836"/>
          </a:xfrm>
        </p:grpSpPr>
        <p:sp>
          <p:nvSpPr>
            <p:cNvPr id="229" name="Google Shape;229;p32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Small Bubbles Attached to Wall</a:t>
              </a:r>
              <a:endPara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0" name="Google Shape;230;p32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The first signs of boiling are small bubbles that form on the wall at the hot spot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31" name="Google Shape;231;p32"/>
          <p:cNvGrpSpPr/>
          <p:nvPr/>
        </p:nvGrpSpPr>
        <p:grpSpPr>
          <a:xfrm>
            <a:off x="2944204" y="1594875"/>
            <a:ext cx="3305700" cy="3483050"/>
            <a:chOff x="2944204" y="1189775"/>
            <a:chExt cx="3305700" cy="3483050"/>
          </a:xfrm>
        </p:grpSpPr>
        <p:sp>
          <p:nvSpPr>
            <p:cNvPr id="232" name="Google Shape;232;p32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Convection</a:t>
              </a:r>
              <a:endPara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33" name="Google Shape;233;p32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Proxima Nova"/>
                  <a:ea typeface="Proxima Nova"/>
                  <a:cs typeface="Proxima Nova"/>
                  <a:sym typeface="Proxima Nova"/>
                </a:rPr>
                <a:t>Movement in the fluid as certain regions become warmer than others</a:t>
              </a:r>
              <a:endParaRPr sz="12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39" name="Google Shape;239;p33"/>
          <p:cNvSpPr txBox="1"/>
          <p:nvPr>
            <p:ph idx="1" type="body"/>
          </p:nvPr>
        </p:nvSpPr>
        <p:spPr>
          <a:xfrm>
            <a:off x="34127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CNN architecture proves to be transferable to the new data set with high accuracy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Only marginally more successful than simpler techniques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No </a:t>
            </a:r>
            <a:r>
              <a:rPr lang="en">
                <a:solidFill>
                  <a:schemeClr val="accent1"/>
                </a:solidFill>
              </a:rPr>
              <a:t>conclusive</a:t>
            </a:r>
            <a:r>
              <a:rPr lang="en">
                <a:solidFill>
                  <a:schemeClr val="accent1"/>
                </a:solidFill>
              </a:rPr>
              <a:t> evidence for best methodology or model </a:t>
            </a:r>
            <a:r>
              <a:rPr lang="en">
                <a:solidFill>
                  <a:schemeClr val="accent1"/>
                </a:solidFill>
              </a:rPr>
              <a:t>generalizability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More data for analysis and testing is needed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Continue to use established process pipeline to test new data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Collect data from more varied settings to test model generalizability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Continue feature extraction using more methods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lang="en">
                <a:solidFill>
                  <a:schemeClr val="accent1"/>
                </a:solidFill>
              </a:rPr>
              <a:t>Analyze </a:t>
            </a:r>
            <a:r>
              <a:rPr lang="en">
                <a:solidFill>
                  <a:schemeClr val="accent1"/>
                </a:solidFill>
              </a:rPr>
              <a:t>probability</a:t>
            </a:r>
            <a:r>
              <a:rPr lang="en">
                <a:solidFill>
                  <a:schemeClr val="accent1"/>
                </a:solidFill>
              </a:rPr>
              <a:t> output from model to understand where misclassifications are coming from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980000"/>
      </a:dk2>
      <a:lt2>
        <a:srgbClr val="98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